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2" r:id="rId5"/>
    <p:sldId id="267" r:id="rId6"/>
    <p:sldId id="258" r:id="rId7"/>
    <p:sldId id="268" r:id="rId8"/>
    <p:sldId id="263" r:id="rId9"/>
    <p:sldId id="269" r:id="rId10"/>
    <p:sldId id="261" r:id="rId11"/>
    <p:sldId id="264" r:id="rId12"/>
    <p:sldId id="265" r:id="rId13"/>
    <p:sldId id="266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270F"/>
    <a:srgbClr val="2334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2"/>
          <p:cNvSpPr/>
          <p:nvPr/>
        </p:nvSpPr>
        <p:spPr>
          <a:xfrm>
            <a:off x="822960" y="880745"/>
            <a:ext cx="10471150" cy="5096510"/>
          </a:xfrm>
          <a:prstGeom prst="rect">
            <a:avLst/>
          </a:prstGeom>
          <a:solidFill>
            <a:srgbClr val="EDF0EA"/>
          </a:solidFill>
        </p:spPr>
        <p:txBody>
          <a:bodyPr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22960" y="880745"/>
            <a:ext cx="10471150" cy="5096510"/>
          </a:xfrm>
          <a:prstGeom prst="rect">
            <a:avLst/>
          </a:prstGeom>
          <a:ln w="28575" cmpd="sng">
            <a:solidFill>
              <a:schemeClr val="accent6">
                <a:lumMod val="50000"/>
              </a:schemeClr>
            </a:solidFill>
            <a:prstDash val="solid"/>
          </a:ln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04265" y="1965960"/>
            <a:ext cx="9164955" cy="3721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GB" altLang="en-US" sz="2500" b="1" kern="0" spc="2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TITLE</a:t>
            </a:r>
            <a:endParaRPr lang="en-GB" altLang="en-US" sz="2500" b="1" kern="0" spc="200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04265" y="2338070"/>
            <a:ext cx="1024128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Digital Subsidy &amp;</a:t>
            </a:r>
            <a:endParaRPr lang="en-US" sz="4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Grant Administration Platform</a:t>
            </a:r>
            <a:endParaRPr 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04265" y="4160520"/>
            <a:ext cx="8686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Aptos"/>
                <a:sym typeface="+mn-ea"/>
              </a:rPr>
              <a:t>Infosys Springboard Internship 7.0  - </a:t>
            </a:r>
            <a:r>
              <a:rPr lang="en-GB" altLang="en-IN" b="1" dirty="0">
                <a:solidFill>
                  <a:schemeClr val="accent1">
                    <a:lumMod val="50000"/>
                  </a:schemeClr>
                </a:solidFill>
                <a:latin typeface="Aptos"/>
                <a:sym typeface="+mn-ea"/>
              </a:rPr>
              <a:t>B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Aptos"/>
                <a:sym typeface="+mn-ea"/>
              </a:rPr>
              <a:t>atch 7</a:t>
            </a:r>
            <a:endParaRPr lang="en-IN" b="1" dirty="0">
              <a:solidFill>
                <a:schemeClr val="accent1">
                  <a:lumMod val="50000"/>
                </a:schemeClr>
              </a:solidFill>
              <a:latin typeface="Aptos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GB" altLang="en-US" sz="3000" b="1" dirty="0">
                <a:solidFill>
                  <a:srgbClr val="31392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Overview</a:t>
            </a:r>
            <a:endParaRPr lang="en-GB" altLang="en-US" sz="3000" b="1" dirty="0">
              <a:solidFill>
                <a:srgbClr val="31392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GB" altLang="en-US" sz="16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6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a dedicated platform is needed</a:t>
            </a:r>
            <a:endParaRPr lang="en-US" sz="1600" i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6675120" cy="4297680"/>
          </a:xfrm>
          <a:prstGeom prst="rect">
            <a:avLst/>
          </a:prstGeom>
          <a:solidFill>
            <a:srgbClr val="EDF0EA"/>
          </a:solidFill>
        </p:spPr>
        <p:txBody>
          <a:bodyPr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1965960"/>
            <a:ext cx="635508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altLang="en-US" sz="2000" dirty="0"/>
          </a:p>
          <a:p>
            <a:pPr marL="0" indent="0">
              <a:buNone/>
            </a:pPr>
            <a:r>
              <a:rPr lang="en-GB" altLang="en-US" sz="2200" b="1" dirty="0"/>
              <a:t>1.</a:t>
            </a:r>
            <a:r>
              <a:rPr lang="en-US" altLang="en-US" sz="2200" b="1" dirty="0"/>
              <a:t>Digital Government Platform</a:t>
            </a:r>
            <a:r>
              <a:rPr lang="en-US" altLang="en-US" sz="2200" dirty="0"/>
              <a:t> – Manages the complete subsidy and grant lifecycle.</a:t>
            </a:r>
            <a:endParaRPr lang="en-US" altLang="en-US" sz="2200" dirty="0"/>
          </a:p>
          <a:p>
            <a:pPr marL="0" indent="0">
              <a:buNone/>
            </a:pPr>
            <a:r>
              <a:rPr lang="en-GB" altLang="en-US" sz="2200" b="1" dirty="0"/>
              <a:t>2.</a:t>
            </a:r>
            <a:r>
              <a:rPr lang="en-US" altLang="en-US" sz="2200" b="1" dirty="0"/>
              <a:t>Automated Workflow</a:t>
            </a:r>
            <a:r>
              <a:rPr lang="en-US" altLang="en-US" sz="2200" dirty="0"/>
              <a:t> – Streamlines eligibility evaluation and multi-level verification.</a:t>
            </a:r>
            <a:endParaRPr lang="en-US" altLang="en-US" sz="2200" dirty="0"/>
          </a:p>
          <a:p>
            <a:pPr marL="0" indent="0">
              <a:buNone/>
            </a:pPr>
            <a:r>
              <a:rPr lang="en-GB" altLang="en-US" sz="2200" b="1" dirty="0"/>
              <a:t>3.</a:t>
            </a:r>
            <a:r>
              <a:rPr lang="en-US" altLang="en-US" sz="2200" b="1" dirty="0"/>
              <a:t>Controlled Disbursement</a:t>
            </a:r>
            <a:r>
              <a:rPr lang="en-US" altLang="en-US" sz="2200" dirty="0"/>
              <a:t>– Enables milestone-based fund release and utilization tracking.</a:t>
            </a:r>
            <a:endParaRPr lang="en-US" altLang="en-US" sz="2200" dirty="0"/>
          </a:p>
          <a:p>
            <a:pPr marL="0" indent="0">
              <a:buNone/>
            </a:pPr>
            <a:r>
              <a:rPr lang="en-GB" altLang="en-US" sz="2200" b="1" dirty="0"/>
              <a:t>4.</a:t>
            </a:r>
            <a:r>
              <a:rPr lang="en-US" altLang="en-US" sz="2200" b="1" dirty="0"/>
              <a:t>Secure &amp; Transparent</a:t>
            </a:r>
            <a:r>
              <a:rPr lang="en-US" altLang="en-US" sz="2200" dirty="0"/>
              <a:t> – Provides JWT authentication, RBAC, and complete audit trails.</a:t>
            </a:r>
            <a:endParaRPr lang="en-US" altLang="en-US" sz="2200" dirty="0"/>
          </a:p>
          <a:p>
            <a:pPr marL="0" indent="0">
              <a:buNone/>
            </a:pPr>
            <a:r>
              <a:rPr lang="en-GB" altLang="en-US" sz="2200" b="1" dirty="0"/>
              <a:t>5.</a:t>
            </a:r>
            <a:r>
              <a:rPr lang="en-US" altLang="en-US" sz="2200" b="1" dirty="0"/>
              <a:t>Analytics &amp; Monitoring</a:t>
            </a:r>
            <a:r>
              <a:rPr lang="en-US" altLang="en-US" sz="2200" dirty="0"/>
              <a:t>– Offers regional insights and automated compliance monitoring.</a:t>
            </a:r>
            <a:r>
              <a:rPr lang="en-US" altLang="en-US" sz="2000" dirty="0"/>
              <a:t> </a:t>
            </a:r>
            <a:endParaRPr lang="en-US" altLang="en-US" sz="2000" dirty="0"/>
          </a:p>
          <a:p>
            <a:pPr marL="0" indent="0">
              <a:buNone/>
            </a:pPr>
            <a:endParaRPr lang="en-US" alt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818120" y="1691640"/>
            <a:ext cx="3520440" cy="1298448"/>
          </a:xfrm>
          <a:prstGeom prst="rect">
            <a:avLst/>
          </a:prstGeom>
          <a:solidFill>
            <a:srgbClr val="2B362F"/>
          </a:solidFill>
        </p:spPr>
      </p:sp>
      <p:sp>
        <p:nvSpPr>
          <p:cNvPr id="7" name="Text 5"/>
          <p:cNvSpPr/>
          <p:nvPr/>
        </p:nvSpPr>
        <p:spPr>
          <a:xfrm>
            <a:off x="8046720" y="2089023"/>
            <a:ext cx="3108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chemeClr val="bg1"/>
                </a:solidFill>
              </a:rPr>
              <a:t>🧮 </a:t>
            </a:r>
            <a:r>
              <a:rPr lang="en-GB" altLang="zh-CN" sz="2400" b="1" dirty="0">
                <a:solidFill>
                  <a:schemeClr val="bg1"/>
                </a:solidFill>
              </a:rPr>
              <a:t> </a:t>
            </a:r>
            <a:r>
              <a:rPr lang="en-US" altLang="en-US" sz="2400" b="1" dirty="0">
                <a:solidFill>
                  <a:schemeClr val="bg1"/>
                </a:solidFill>
              </a:rPr>
              <a:t>Automated </a:t>
            </a:r>
            <a:r>
              <a:rPr lang="en-GB" altLang="en-US" sz="2400" b="1" dirty="0">
                <a:solidFill>
                  <a:schemeClr val="bg1"/>
                </a:solidFill>
              </a:rPr>
              <a:t>    </a:t>
            </a:r>
            <a:endParaRPr lang="en-GB" altLang="en-US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altLang="en-US" sz="2400" b="1" dirty="0">
                <a:solidFill>
                  <a:schemeClr val="bg1"/>
                </a:solidFill>
              </a:rPr>
              <a:t>      </a:t>
            </a:r>
            <a:r>
              <a:rPr lang="en-US" altLang="en-US" sz="2400" b="1" dirty="0">
                <a:solidFill>
                  <a:schemeClr val="bg1"/>
                </a:solidFill>
              </a:rPr>
              <a:t>Eligibility Scoring</a:t>
            </a:r>
            <a:endParaRPr lang="en-US" altLang="en-US" sz="2400" b="1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818120" y="3191256"/>
            <a:ext cx="3520440" cy="1298448"/>
          </a:xfrm>
          <a:prstGeom prst="rect">
            <a:avLst/>
          </a:prstGeom>
          <a:solidFill>
            <a:srgbClr val="2B362F"/>
          </a:solidFill>
        </p:spPr>
        <p:txBody>
          <a:bodyPr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0" y="3589274"/>
            <a:ext cx="3108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chemeClr val="bg1"/>
                </a:solidFill>
              </a:rPr>
              <a:t>🔍</a:t>
            </a:r>
            <a:r>
              <a:rPr lang="en-GB" altLang="zh-CN" sz="2400" b="1" dirty="0">
                <a:solidFill>
                  <a:schemeClr val="bg1"/>
                </a:solidFill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en-US" sz="2400" b="1" dirty="0">
                <a:solidFill>
                  <a:schemeClr val="bg1"/>
                </a:solidFill>
              </a:rPr>
              <a:t>Multi-Level</a:t>
            </a:r>
            <a:endParaRPr lang="en-US" altLang="en-US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en-US" sz="2400" b="1" dirty="0">
                <a:solidFill>
                  <a:schemeClr val="bg1"/>
                </a:solidFill>
              </a:rPr>
              <a:t> </a:t>
            </a:r>
            <a:r>
              <a:rPr lang="en-GB" altLang="en-US" sz="2400" b="1" dirty="0">
                <a:solidFill>
                  <a:schemeClr val="bg1"/>
                </a:solidFill>
              </a:rPr>
              <a:t>     </a:t>
            </a:r>
            <a:r>
              <a:rPr lang="en-US" altLang="en-US" sz="2400" b="1" dirty="0">
                <a:solidFill>
                  <a:schemeClr val="bg1"/>
                </a:solidFill>
              </a:rPr>
              <a:t> Verification</a:t>
            </a:r>
            <a:endParaRPr lang="en-US" altLang="en-US" sz="2400" b="1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818120" y="4690872"/>
            <a:ext cx="3520440" cy="1298448"/>
          </a:xfrm>
          <a:prstGeom prst="rect">
            <a:avLst/>
          </a:prstGeom>
          <a:solidFill>
            <a:srgbClr val="2B362F"/>
          </a:solidFill>
        </p:spPr>
      </p:sp>
      <p:sp>
        <p:nvSpPr>
          <p:cNvPr id="15" name="Text 1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5"/>
          <p:cNvSpPr/>
          <p:nvPr/>
        </p:nvSpPr>
        <p:spPr>
          <a:xfrm>
            <a:off x="8046720" y="5088763"/>
            <a:ext cx="3108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chemeClr val="bg1"/>
                </a:solidFill>
              </a:rPr>
              <a:t>📊 </a:t>
            </a:r>
            <a:r>
              <a:rPr lang="en-GB" altLang="zh-CN" sz="2400" b="1" dirty="0">
                <a:solidFill>
                  <a:schemeClr val="bg1"/>
                </a:solidFill>
              </a:rPr>
              <a:t> </a:t>
            </a:r>
            <a:r>
              <a:rPr lang="en-US" altLang="en-US" sz="2400" b="1" dirty="0">
                <a:solidFill>
                  <a:schemeClr val="bg1"/>
                </a:solidFill>
              </a:rPr>
              <a:t>Fund Utilization</a:t>
            </a:r>
            <a:endParaRPr lang="en-US" altLang="en-US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en-US" sz="2400" b="1" dirty="0">
                <a:solidFill>
                  <a:schemeClr val="bg1"/>
                </a:solidFill>
              </a:rPr>
              <a:t> </a:t>
            </a:r>
            <a:r>
              <a:rPr lang="en-GB" altLang="en-US" sz="2400" b="1" dirty="0">
                <a:solidFill>
                  <a:schemeClr val="bg1"/>
                </a:solidFill>
              </a:rPr>
              <a:t>    </a:t>
            </a:r>
            <a:r>
              <a:rPr lang="en-US" altLang="en-US" sz="2400" b="1" dirty="0">
                <a:solidFill>
                  <a:schemeClr val="bg1"/>
                </a:solidFill>
              </a:rPr>
              <a:t> Tracking</a:t>
            </a:r>
            <a:r>
              <a:rPr lang="en-GB" altLang="en-US" sz="2400" b="1" dirty="0">
                <a:solidFill>
                  <a:schemeClr val="bg1"/>
                </a:solidFill>
              </a:rPr>
              <a:t>  </a:t>
            </a:r>
            <a:endParaRPr lang="en-US" alt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1392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398905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b="1" dirty="0">
                <a:latin typeface="Cambria" panose="02040503050406030204" pitchFamily="34" charset="0"/>
                <a:cs typeface="Cambria" panose="02040503050406030204" pitchFamily="34" charset="0"/>
              </a:rPr>
              <a:t>Existing Problems</a:t>
            </a:r>
            <a:endParaRPr lang="en-US" altLang="en-US" b="1" dirty="0">
              <a:latin typeface="Cambria" panose="02040503050406030204" pitchFamily="34" charset="0"/>
              <a:cs typeface="Cambria" panose="02040503050406030204" pitchFamily="34" charset="0"/>
            </a:endParaRPr>
          </a:p>
          <a:p>
            <a:pPr marL="0" indent="0">
              <a:buNone/>
            </a:pPr>
            <a:endParaRPr lang="en-US" altLang="en-US" b="1" dirty="0">
              <a:latin typeface="Cambria" panose="02040503050406030204" pitchFamily="34" charset="0"/>
              <a:cs typeface="Cambria" panose="02040503050406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6675120" cy="4297680"/>
          </a:xfrm>
          <a:prstGeom prst="rect">
            <a:avLst/>
          </a:prstGeom>
          <a:solidFill>
            <a:srgbClr val="EDF0EA"/>
          </a:solidFill>
        </p:spPr>
      </p:sp>
      <p:sp>
        <p:nvSpPr>
          <p:cNvPr id="5" name="Text 3"/>
          <p:cNvSpPr/>
          <p:nvPr/>
        </p:nvSpPr>
        <p:spPr>
          <a:xfrm>
            <a:off x="960755" y="2112010"/>
            <a:ext cx="6628765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GB" altLang="en-US" sz="2000" b="1" dirty="0"/>
              <a:t>1.</a:t>
            </a:r>
            <a:r>
              <a:rPr lang="en-US" altLang="en-US" sz="2000" b="1" dirty="0"/>
              <a:t>Manual &amp; Slow Processing</a:t>
            </a:r>
            <a:r>
              <a:rPr lang="en-US" altLang="en-US" sz="2000" dirty="0"/>
              <a:t> – Applications and verification often depend on time-consuming manual processes.</a:t>
            </a:r>
            <a:endParaRPr lang="en-US" alt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en-US" sz="2000" b="1" dirty="0"/>
              <a:t>2.</a:t>
            </a:r>
            <a:r>
              <a:rPr lang="en-US" altLang="en-US" sz="2000" b="1" dirty="0"/>
              <a:t>Inconsistent Eligibility</a:t>
            </a:r>
            <a:r>
              <a:rPr lang="en-US" altLang="en-US" sz="2000" dirty="0"/>
              <a:t> – Lack of standardized evaluation can result in inconsistent eligibility decisions.</a:t>
            </a:r>
            <a:endParaRPr lang="en-US" alt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en-US" sz="2000" b="1" dirty="0"/>
              <a:t>3.</a:t>
            </a:r>
            <a:r>
              <a:rPr lang="en-US" altLang="en-US" sz="2000" b="1" dirty="0"/>
              <a:t>Verification &amp; Approval Delays </a:t>
            </a:r>
            <a:r>
              <a:rPr lang="en-US" altLang="en-US" sz="2000" dirty="0"/>
              <a:t>– Multiple verification and approval stages can delay fund distribution.</a:t>
            </a:r>
            <a:endParaRPr lang="en-US" alt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en-US" sz="2000" b="1" dirty="0"/>
              <a:t>4.</a:t>
            </a:r>
            <a:r>
              <a:rPr lang="en-US" altLang="en-US" sz="2000" b="1" dirty="0"/>
              <a:t>Poor Financial Transparency </a:t>
            </a:r>
            <a:r>
              <a:rPr lang="en-US" altLang="en-US" sz="2000" dirty="0"/>
              <a:t>– Tracking application status, fund movement, and utilization is difficult.</a:t>
            </a:r>
            <a:endParaRPr lang="en-US" alt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altLang="en-US" sz="2000" b="1" dirty="0"/>
              <a:t>5.</a:t>
            </a:r>
            <a:r>
              <a:rPr lang="en-US" altLang="en-US" sz="2000" b="1" dirty="0"/>
              <a:t>Limited Monitoring &amp; Auditability</a:t>
            </a:r>
            <a:r>
              <a:rPr lang="en-US" altLang="en-US" sz="2000" dirty="0"/>
              <a:t> – Overdue milestones, unutilized funds, and regional performance are difficult to monitor centrally.</a:t>
            </a:r>
            <a:endParaRPr lang="en-US" alt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818120" y="1691640"/>
            <a:ext cx="3520440" cy="4298315"/>
          </a:xfrm>
          <a:prstGeom prst="rect">
            <a:avLst/>
          </a:prstGeom>
          <a:solidFill>
            <a:srgbClr val="2B362F"/>
          </a:solidFill>
        </p:spPr>
        <p:txBody>
          <a:bodyPr/>
          <a:p>
            <a:pPr algn="ctr"/>
            <a:r>
              <a:rPr lang="en-GB" altLang="en-US" sz="2800" b="1" u="sng">
                <a:solidFill>
                  <a:schemeClr val="accent6">
                    <a:lumMod val="40000"/>
                    <a:lumOff val="60000"/>
                  </a:schemeClr>
                </a:solidFill>
              </a:rPr>
              <a:t>Need</a:t>
            </a:r>
            <a:endParaRPr lang="en-US" altLang="en-US" sz="2800" b="1" u="sng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algn="ctr"/>
            <a:endParaRPr lang="en-US" altLang="en-US" sz="2000">
              <a:solidFill>
                <a:schemeClr val="bg1"/>
              </a:solidFill>
            </a:endParaRPr>
          </a:p>
          <a:p>
            <a:pPr algn="ctr"/>
            <a:endParaRPr lang="en-US" altLang="en-US" sz="2400">
              <a:solidFill>
                <a:schemeClr val="bg1"/>
              </a:solidFill>
            </a:endParaRPr>
          </a:p>
          <a:p>
            <a:pPr algn="ctr"/>
            <a:r>
              <a:rPr lang="en-US" altLang="en-US" sz="2400">
                <a:solidFill>
                  <a:schemeClr val="bg1"/>
                </a:solidFill>
              </a:rPr>
              <a:t>A centralized and transparent digital platform to manage the complete subsidy lifecycle with automated eligibility, verification, approval, and fund tracking.</a:t>
            </a:r>
            <a:endParaRPr lang="en-US" altLang="en-US" sz="240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GB" altLang="en-US" sz="3000" b="1" dirty="0">
                <a:solidFill>
                  <a:srgbClr val="31392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Proposed Solution</a:t>
            </a:r>
            <a:endParaRPr lang="en-GB" altLang="en-US" sz="3000" b="1" dirty="0">
              <a:solidFill>
                <a:srgbClr val="31392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560" y="1645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4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325" y="1348105"/>
            <a:ext cx="10652125" cy="4881245"/>
          </a:xfrm>
          <a:prstGeom prst="rect">
            <a:avLst/>
          </a:prstGeom>
          <a:solidFill>
            <a:srgbClr val="EDF0EA"/>
          </a:solidFill>
        </p:spPr>
      </p:sp>
      <p:sp>
        <p:nvSpPr>
          <p:cNvPr id="10" name="Text 8"/>
          <p:cNvSpPr/>
          <p:nvPr/>
        </p:nvSpPr>
        <p:spPr>
          <a:xfrm>
            <a:off x="4800600" y="1645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4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00600" y="3886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4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Box 33"/>
          <p:cNvSpPr txBox="1"/>
          <p:nvPr/>
        </p:nvSpPr>
        <p:spPr>
          <a:xfrm>
            <a:off x="1025525" y="1554480"/>
            <a:ext cx="10262870" cy="42767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GB" altLang="en-US" sz="2200" b="1"/>
              <a:t>1.</a:t>
            </a:r>
            <a:r>
              <a:rPr lang="en-US" altLang="en-US" sz="2200" b="1"/>
              <a:t>Centralized Beneficiary &amp; Scheme Management</a:t>
            </a:r>
            <a:r>
              <a:rPr lang="en-US" altLang="en-US" sz="2200"/>
              <a:t> – Digitizes beneficiary registration, KYC details, scheme configuration, budgets, eligibility criteria, and application management in one platform.</a:t>
            </a:r>
            <a:endParaRPr lang="en-US" altLang="en-US" sz="2200"/>
          </a:p>
          <a:p>
            <a:pPr algn="just"/>
            <a:r>
              <a:rPr lang="en-GB" altLang="en-US" sz="2200" b="1"/>
              <a:t>2.</a:t>
            </a:r>
            <a:r>
              <a:rPr lang="en-US" altLang="en-US" sz="2200" b="1"/>
              <a:t>Automated Eligibility &amp; Verification</a:t>
            </a:r>
            <a:r>
              <a:rPr lang="en-US" altLang="en-US" sz="2200"/>
              <a:t> – Evaluates applications using configurable scoring rules, followed by structured field verification, district review, and finance approval.</a:t>
            </a:r>
            <a:endParaRPr lang="en-US" altLang="en-US" sz="2200"/>
          </a:p>
          <a:p>
            <a:pPr algn="just"/>
            <a:r>
              <a:rPr lang="en-GB" altLang="en-US" sz="2200" b="1"/>
              <a:t>3.</a:t>
            </a:r>
            <a:r>
              <a:rPr lang="en-US" altLang="en-US" sz="2200" b="1"/>
              <a:t>Secure &amp; Controlled Fund Management</a:t>
            </a:r>
            <a:r>
              <a:rPr lang="en-US" altLang="en-US" sz="2200"/>
              <a:t> – Uses role-based access with JWT authentication and supports milestone-based disbursement with DBT/Treasury transaction tracking.</a:t>
            </a:r>
            <a:endParaRPr lang="en-US" altLang="en-US" sz="2200"/>
          </a:p>
          <a:p>
            <a:pPr algn="just"/>
            <a:r>
              <a:rPr lang="en-GB" altLang="en-US" sz="2200" b="1"/>
              <a:t>4.</a:t>
            </a:r>
            <a:r>
              <a:rPr lang="en-US" altLang="en-US" sz="2200" b="1"/>
              <a:t>Fund Utilization &amp; Compliance</a:t>
            </a:r>
            <a:r>
              <a:rPr lang="en-US" altLang="en-US" sz="2200"/>
              <a:t> – Tracks expenditure, receipts, and utilization while automatically monitoring overdue milestones, unutilized funds, and compliance issues.</a:t>
            </a:r>
            <a:endParaRPr lang="en-US" altLang="en-US" sz="2200"/>
          </a:p>
          <a:p>
            <a:pPr algn="just"/>
            <a:r>
              <a:rPr lang="en-GB" altLang="en-US" sz="2200" b="1"/>
              <a:t>5.</a:t>
            </a:r>
            <a:r>
              <a:rPr lang="en-US" altLang="en-US" sz="2200" b="1"/>
              <a:t>Analytics, Reporting &amp; Accountability</a:t>
            </a:r>
            <a:r>
              <a:rPr lang="en-US" altLang="en-US" sz="2200"/>
              <a:t> – Provides regional and scheme-level analytics, CSV reports, and a complete audit trail of applications, decisions, payments, and utilization.</a:t>
            </a:r>
            <a:endParaRPr lang="en-US" sz="2200"/>
          </a:p>
        </p:txBody>
      </p:sp>
      <p:sp>
        <p:nvSpPr>
          <p:cNvPr id="3" name="Text 1"/>
          <p:cNvSpPr/>
          <p:nvPr/>
        </p:nvSpPr>
        <p:spPr>
          <a:xfrm>
            <a:off x="822960" y="112014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GB" altLang="en-US" b="1" dirty="0">
                <a:latin typeface="Cambria" panose="02040503050406030204" pitchFamily="34" charset="0"/>
                <a:cs typeface="Cambria" panose="02040503050406030204" pitchFamily="34" charset="0"/>
              </a:rPr>
              <a:t>Our Solution</a:t>
            </a:r>
            <a:endParaRPr lang="en-US" altLang="en-US" b="1" dirty="0">
              <a:latin typeface="Cambria" panose="02040503050406030204" pitchFamily="34" charset="0"/>
              <a:cs typeface="Cambria" panose="02040503050406030204" pitchFamily="34" charset="0"/>
            </a:endParaRPr>
          </a:p>
          <a:p>
            <a:pPr marL="0" indent="0">
              <a:buNone/>
            </a:pPr>
            <a:endParaRPr lang="en-US" altLang="en-US" b="1" dirty="0">
              <a:latin typeface="Cambria" panose="02040503050406030204" pitchFamily="34" charset="0"/>
              <a:cs typeface="Cambria" panose="02040503050406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GB" altLang="en-US" sz="3000" b="1" dirty="0">
                <a:solidFill>
                  <a:srgbClr val="31392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Work Flow</a:t>
            </a:r>
            <a:endParaRPr lang="en-GB" altLang="en-US" sz="3000" b="1" dirty="0">
              <a:solidFill>
                <a:srgbClr val="31392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560" y="1645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4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9075" y="1320800"/>
            <a:ext cx="11805285" cy="5125720"/>
          </a:xfrm>
          <a:prstGeom prst="rect">
            <a:avLst/>
          </a:prstGeom>
          <a:solidFill>
            <a:srgbClr val="EDF0EA"/>
          </a:solidFill>
        </p:spPr>
        <p:txBody>
          <a:bodyPr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645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4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00600" y="3886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4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pic>
        <p:nvPicPr>
          <p:cNvPr id="4" name="Picture 3" descr="ChatGPT Image Sep 17, 2026, 02_19_28 PM"/>
          <p:cNvPicPr>
            <a:picLocks noChangeAspect="1"/>
          </p:cNvPicPr>
          <p:nvPr/>
        </p:nvPicPr>
        <p:blipFill>
          <a:blip r:embed="rId1"/>
          <a:srcRect t="13542" b="27407"/>
          <a:stretch>
            <a:fillRect/>
          </a:stretch>
        </p:blipFill>
        <p:spPr>
          <a:xfrm>
            <a:off x="327025" y="1645920"/>
            <a:ext cx="11589385" cy="4562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1392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5120640" cy="1234440"/>
          </a:xfrm>
          <a:prstGeom prst="rect">
            <a:avLst/>
          </a:prstGeom>
          <a:solidFill>
            <a:srgbClr val="EDF0EA"/>
          </a:solidFill>
        </p:spPr>
      </p:sp>
      <p:sp>
        <p:nvSpPr>
          <p:cNvPr id="4" name="Shape 2"/>
          <p:cNvSpPr/>
          <p:nvPr/>
        </p:nvSpPr>
        <p:spPr>
          <a:xfrm>
            <a:off x="822960" y="1463040"/>
            <a:ext cx="73152" cy="12344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6217920" y="1463040"/>
            <a:ext cx="5120640" cy="1234440"/>
          </a:xfrm>
          <a:prstGeom prst="rect">
            <a:avLst/>
          </a:prstGeom>
          <a:solidFill>
            <a:srgbClr val="EDF0EA"/>
          </a:solidFill>
        </p:spPr>
      </p:sp>
      <p:sp>
        <p:nvSpPr>
          <p:cNvPr id="8" name="Shape 6"/>
          <p:cNvSpPr/>
          <p:nvPr/>
        </p:nvSpPr>
        <p:spPr>
          <a:xfrm>
            <a:off x="6217920" y="1463040"/>
            <a:ext cx="73152" cy="12344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Shape 9"/>
          <p:cNvSpPr/>
          <p:nvPr/>
        </p:nvSpPr>
        <p:spPr>
          <a:xfrm>
            <a:off x="822960" y="2926080"/>
            <a:ext cx="5120640" cy="1234440"/>
          </a:xfrm>
          <a:prstGeom prst="rect">
            <a:avLst/>
          </a:prstGeom>
          <a:solidFill>
            <a:srgbClr val="EDF0EA"/>
          </a:solidFill>
        </p:spPr>
      </p:sp>
      <p:sp>
        <p:nvSpPr>
          <p:cNvPr id="12" name="Shape 10"/>
          <p:cNvSpPr/>
          <p:nvPr/>
        </p:nvSpPr>
        <p:spPr>
          <a:xfrm>
            <a:off x="822960" y="2926080"/>
            <a:ext cx="73152" cy="12344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Shape 13"/>
          <p:cNvSpPr/>
          <p:nvPr/>
        </p:nvSpPr>
        <p:spPr>
          <a:xfrm>
            <a:off x="6217920" y="2926080"/>
            <a:ext cx="5120640" cy="1234440"/>
          </a:xfrm>
          <a:prstGeom prst="rect">
            <a:avLst/>
          </a:prstGeom>
          <a:solidFill>
            <a:srgbClr val="EDF0EA"/>
          </a:solidFill>
        </p:spPr>
      </p:sp>
      <p:sp>
        <p:nvSpPr>
          <p:cNvPr id="16" name="Shape 14"/>
          <p:cNvSpPr/>
          <p:nvPr/>
        </p:nvSpPr>
        <p:spPr>
          <a:xfrm>
            <a:off x="6217920" y="2926080"/>
            <a:ext cx="73152" cy="12344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Shape 17"/>
          <p:cNvSpPr/>
          <p:nvPr/>
        </p:nvSpPr>
        <p:spPr>
          <a:xfrm>
            <a:off x="822960" y="4389120"/>
            <a:ext cx="5120640" cy="1234440"/>
          </a:xfrm>
          <a:prstGeom prst="rect">
            <a:avLst/>
          </a:prstGeom>
          <a:solidFill>
            <a:srgbClr val="EDF0EA"/>
          </a:solidFill>
        </p:spPr>
      </p:sp>
      <p:sp>
        <p:nvSpPr>
          <p:cNvPr id="20" name="Shape 18"/>
          <p:cNvSpPr/>
          <p:nvPr/>
        </p:nvSpPr>
        <p:spPr>
          <a:xfrm>
            <a:off x="822960" y="4389120"/>
            <a:ext cx="73152" cy="12344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Shape 21"/>
          <p:cNvSpPr/>
          <p:nvPr/>
        </p:nvSpPr>
        <p:spPr>
          <a:xfrm>
            <a:off x="6217920" y="4389120"/>
            <a:ext cx="5120640" cy="1234440"/>
          </a:xfrm>
          <a:prstGeom prst="rect">
            <a:avLst/>
          </a:prstGeom>
          <a:solidFill>
            <a:srgbClr val="EDF0EA"/>
          </a:solidFill>
        </p:spPr>
      </p:sp>
      <p:sp>
        <p:nvSpPr>
          <p:cNvPr id="24" name="Shape 22"/>
          <p:cNvSpPr/>
          <p:nvPr/>
        </p:nvSpPr>
        <p:spPr>
          <a:xfrm>
            <a:off x="6217920" y="4389120"/>
            <a:ext cx="73152" cy="12344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Text 2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Box 27"/>
          <p:cNvSpPr txBox="1"/>
          <p:nvPr/>
        </p:nvSpPr>
        <p:spPr>
          <a:xfrm>
            <a:off x="932815" y="1520825"/>
            <a:ext cx="50107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Frontend</a:t>
            </a:r>
            <a:endParaRPr lang="en-US" altLang="en-US" b="1"/>
          </a:p>
          <a:p>
            <a:r>
              <a:rPr lang="en-US" altLang="en-US"/>
              <a:t>React.js</a:t>
            </a:r>
            <a:endParaRPr lang="en-US" altLang="en-US"/>
          </a:p>
          <a:p>
            <a:r>
              <a:rPr lang="en-US" altLang="en-US"/>
              <a:t>Vite</a:t>
            </a:r>
            <a:endParaRPr lang="en-US" altLang="en-US"/>
          </a:p>
          <a:p>
            <a:r>
              <a:rPr lang="en-US" altLang="en-US"/>
              <a:t>Tailwind CSS</a:t>
            </a:r>
            <a:endParaRPr lang="en-US"/>
          </a:p>
        </p:txBody>
      </p:sp>
      <p:sp>
        <p:nvSpPr>
          <p:cNvPr id="29" name="Text Box 28"/>
          <p:cNvSpPr txBox="1"/>
          <p:nvPr/>
        </p:nvSpPr>
        <p:spPr>
          <a:xfrm>
            <a:off x="6290945" y="1498600"/>
            <a:ext cx="50107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Security</a:t>
            </a:r>
            <a:endParaRPr lang="en-US" altLang="en-US" b="1"/>
          </a:p>
          <a:p>
            <a:r>
              <a:rPr lang="en-US" altLang="en-US"/>
              <a:t>Spring Security</a:t>
            </a:r>
            <a:endParaRPr lang="en-US" altLang="en-US"/>
          </a:p>
          <a:p>
            <a:r>
              <a:rPr lang="en-US" altLang="en-US"/>
              <a:t>JWT</a:t>
            </a:r>
            <a:endParaRPr lang="en-US" altLang="en-US"/>
          </a:p>
          <a:p>
            <a:r>
              <a:rPr lang="en-US" altLang="en-US"/>
              <a:t>BCrypt</a:t>
            </a:r>
            <a:endParaRPr lang="en-US" altLang="en-US"/>
          </a:p>
        </p:txBody>
      </p:sp>
      <p:sp>
        <p:nvSpPr>
          <p:cNvPr id="30" name="Text Box 29"/>
          <p:cNvSpPr txBox="1"/>
          <p:nvPr/>
        </p:nvSpPr>
        <p:spPr>
          <a:xfrm>
            <a:off x="932815" y="2885440"/>
            <a:ext cx="5010785" cy="1275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/>
              <a:t>Backend</a:t>
            </a:r>
            <a:endParaRPr lang="en-US" altLang="en-US" b="1"/>
          </a:p>
          <a:p>
            <a:r>
              <a:rPr lang="en-US" altLang="en-US" sz="1600"/>
              <a:t>Java 17+</a:t>
            </a:r>
            <a:endParaRPr lang="en-US" altLang="en-US" sz="1600"/>
          </a:p>
          <a:p>
            <a:r>
              <a:rPr lang="en-US" altLang="en-US" sz="1600"/>
              <a:t>Spring Boot</a:t>
            </a:r>
            <a:endParaRPr lang="en-US" altLang="en-US" sz="1600"/>
          </a:p>
          <a:p>
            <a:r>
              <a:rPr lang="en-US" altLang="en-US" sz="1600"/>
              <a:t>JPA / Hibernate</a:t>
            </a:r>
            <a:endParaRPr lang="en-US" altLang="en-US" sz="1600"/>
          </a:p>
          <a:p>
            <a:r>
              <a:rPr sz="1600">
                <a:sym typeface="+mn-ea"/>
              </a:rPr>
              <a:t>REST APIs</a:t>
            </a:r>
            <a:endParaRPr lang="en-US" altLang="en-US" sz="1600"/>
          </a:p>
        </p:txBody>
      </p:sp>
      <p:sp>
        <p:nvSpPr>
          <p:cNvPr id="31" name="Text Box 30"/>
          <p:cNvSpPr txBox="1"/>
          <p:nvPr/>
        </p:nvSpPr>
        <p:spPr>
          <a:xfrm>
            <a:off x="932815" y="4424680"/>
            <a:ext cx="50107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Database</a:t>
            </a:r>
            <a:endParaRPr lang="en-US" altLang="en-US" b="1"/>
          </a:p>
          <a:p>
            <a:r>
              <a:rPr lang="en-US" altLang="en-US"/>
              <a:t>MySQL</a:t>
            </a:r>
            <a:endParaRPr lang="en-US" altLang="en-US"/>
          </a:p>
        </p:txBody>
      </p:sp>
      <p:sp>
        <p:nvSpPr>
          <p:cNvPr id="32" name="Text Box 31"/>
          <p:cNvSpPr txBox="1"/>
          <p:nvPr/>
        </p:nvSpPr>
        <p:spPr>
          <a:xfrm>
            <a:off x="6327775" y="2961640"/>
            <a:ext cx="50107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Tools </a:t>
            </a:r>
            <a:endParaRPr lang="en-GB" altLang="en-US"/>
          </a:p>
          <a:p>
            <a:r>
              <a:rPr lang="en-US" altLang="en-US"/>
              <a:t>Maven  </a:t>
            </a:r>
            <a:endParaRPr lang="en-US" altLang="en-US"/>
          </a:p>
          <a:p>
            <a:r>
              <a:rPr lang="en-US" altLang="en-US"/>
              <a:t>Git / GitHub </a:t>
            </a:r>
            <a:endParaRPr lang="en-US" altLang="en-US"/>
          </a:p>
          <a:p>
            <a:r>
              <a:rPr lang="en-US" altLang="en-US"/>
              <a:t>Postman </a:t>
            </a:r>
            <a:endParaRPr lang="en-US" altLang="en-US"/>
          </a:p>
        </p:txBody>
      </p:sp>
      <p:sp>
        <p:nvSpPr>
          <p:cNvPr id="33" name="Text Box 32"/>
          <p:cNvSpPr txBox="1"/>
          <p:nvPr/>
        </p:nvSpPr>
        <p:spPr>
          <a:xfrm>
            <a:off x="6327775" y="4424680"/>
            <a:ext cx="50107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Reporting Tools</a:t>
            </a:r>
            <a:endParaRPr lang="en-US" altLang="en-US" b="1"/>
          </a:p>
          <a:p>
            <a:r>
              <a:rPr lang="en-US" altLang="en-US"/>
              <a:t>CSV Export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GB" altLang="en-US" sz="3000" b="1" dirty="0">
                <a:solidFill>
                  <a:srgbClr val="31392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GB" altLang="en-US" sz="3000" b="1" dirty="0">
              <a:solidFill>
                <a:srgbClr val="31392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1560" y="1645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4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3595" y="1348105"/>
            <a:ext cx="10652125" cy="4881245"/>
          </a:xfrm>
          <a:prstGeom prst="rect">
            <a:avLst/>
          </a:prstGeom>
          <a:solidFill>
            <a:srgbClr val="EDF0EA"/>
          </a:solidFill>
        </p:spPr>
      </p:sp>
      <p:sp>
        <p:nvSpPr>
          <p:cNvPr id="10" name="Text 8"/>
          <p:cNvSpPr/>
          <p:nvPr/>
        </p:nvSpPr>
        <p:spPr>
          <a:xfrm>
            <a:off x="4800600" y="1645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4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00600" y="3886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4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pic>
        <p:nvPicPr>
          <p:cNvPr id="3" name="Picture 2" descr="ChatGPT Image Sep 17, 2026, 02_14_28 PM"/>
          <p:cNvPicPr>
            <a:picLocks noChangeAspect="1"/>
          </p:cNvPicPr>
          <p:nvPr/>
        </p:nvPicPr>
        <p:blipFill>
          <a:blip r:embed="rId1"/>
          <a:srcRect t="9871"/>
          <a:stretch>
            <a:fillRect/>
          </a:stretch>
        </p:blipFill>
        <p:spPr>
          <a:xfrm>
            <a:off x="2155190" y="1537970"/>
            <a:ext cx="798957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1392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3520440" cy="1965960"/>
          </a:xfrm>
          <a:prstGeom prst="rect">
            <a:avLst/>
          </a:prstGeom>
          <a:solidFill>
            <a:srgbClr val="EDF0EA"/>
          </a:solidFill>
        </p:spPr>
      </p:sp>
      <p:sp>
        <p:nvSpPr>
          <p:cNvPr id="4" name="Shape 2"/>
          <p:cNvSpPr/>
          <p:nvPr/>
        </p:nvSpPr>
        <p:spPr>
          <a:xfrm>
            <a:off x="1051560" y="1645920"/>
            <a:ext cx="502920" cy="502920"/>
          </a:xfrm>
          <a:prstGeom prst="ellipse">
            <a:avLst/>
          </a:prstGeom>
          <a:solidFill>
            <a:srgbClr val="DCE5D8"/>
          </a:solidFill>
        </p:spPr>
      </p:sp>
      <p:sp>
        <p:nvSpPr>
          <p:cNvPr id="5" name="Text 3"/>
          <p:cNvSpPr/>
          <p:nvPr/>
        </p:nvSpPr>
        <p:spPr>
          <a:xfrm>
            <a:off x="1051560" y="1645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286000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139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Sign-On Identity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51560" y="2624328"/>
            <a:ext cx="3063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Aadhaar / DigiLocker linked verification for one-time citizen onboarding.</a:t>
            </a:r>
            <a:endParaRPr lang="en-US" sz="11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0" y="1417320"/>
            <a:ext cx="3520440" cy="1965960"/>
          </a:xfrm>
          <a:prstGeom prst="rect">
            <a:avLst/>
          </a:prstGeom>
          <a:solidFill>
            <a:srgbClr val="EDF0EA"/>
          </a:solidFill>
        </p:spPr>
      </p:sp>
      <p:sp>
        <p:nvSpPr>
          <p:cNvPr id="9" name="Shape 7"/>
          <p:cNvSpPr/>
          <p:nvPr/>
        </p:nvSpPr>
        <p:spPr>
          <a:xfrm>
            <a:off x="4800600" y="1645920"/>
            <a:ext cx="502920" cy="502920"/>
          </a:xfrm>
          <a:prstGeom prst="ellipse">
            <a:avLst/>
          </a:prstGeom>
          <a:solidFill>
            <a:srgbClr val="DCE5D8"/>
          </a:solidFill>
        </p:spPr>
      </p:sp>
      <p:sp>
        <p:nvSpPr>
          <p:cNvPr id="10" name="Text 8"/>
          <p:cNvSpPr/>
          <p:nvPr/>
        </p:nvSpPr>
        <p:spPr>
          <a:xfrm>
            <a:off x="4800600" y="1645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2286000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139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Eligibility Engine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00600" y="2624328"/>
            <a:ext cx="3063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 + ML based matching of citizens to applicable schemes automatically.</a:t>
            </a:r>
            <a:endParaRPr lang="en-US" sz="11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321040" y="1417320"/>
            <a:ext cx="3520440" cy="1965960"/>
          </a:xfrm>
          <a:prstGeom prst="rect">
            <a:avLst/>
          </a:prstGeom>
          <a:solidFill>
            <a:srgbClr val="EDF0EA"/>
          </a:solidFill>
        </p:spPr>
      </p:sp>
      <p:sp>
        <p:nvSpPr>
          <p:cNvPr id="14" name="Shape 12"/>
          <p:cNvSpPr/>
          <p:nvPr/>
        </p:nvSpPr>
        <p:spPr>
          <a:xfrm>
            <a:off x="8549640" y="1645920"/>
            <a:ext cx="502920" cy="502920"/>
          </a:xfrm>
          <a:prstGeom prst="ellipse">
            <a:avLst/>
          </a:prstGeom>
          <a:solidFill>
            <a:srgbClr val="DCE5D8"/>
          </a:solidFill>
        </p:spPr>
      </p:sp>
      <p:sp>
        <p:nvSpPr>
          <p:cNvPr id="15" name="Text 13"/>
          <p:cNvSpPr/>
          <p:nvPr/>
        </p:nvSpPr>
        <p:spPr>
          <a:xfrm>
            <a:off x="8549640" y="1645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49640" y="2286000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139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 Benefit Transfer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49640" y="2624328"/>
            <a:ext cx="3063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bank-linked disbursement with reconciliation and receipt proof.</a:t>
            </a:r>
            <a:endParaRPr lang="en-US" sz="11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2960" y="3657600"/>
            <a:ext cx="3520440" cy="1965960"/>
          </a:xfrm>
          <a:prstGeom prst="rect">
            <a:avLst/>
          </a:prstGeom>
          <a:solidFill>
            <a:srgbClr val="EDF0EA"/>
          </a:solidFill>
        </p:spPr>
      </p:sp>
      <p:sp>
        <p:nvSpPr>
          <p:cNvPr id="19" name="Shape 17"/>
          <p:cNvSpPr/>
          <p:nvPr/>
        </p:nvSpPr>
        <p:spPr>
          <a:xfrm>
            <a:off x="1051560" y="3886200"/>
            <a:ext cx="502920" cy="502920"/>
          </a:xfrm>
          <a:prstGeom prst="ellipse">
            <a:avLst/>
          </a:prstGeom>
          <a:solidFill>
            <a:srgbClr val="DCE5D8"/>
          </a:solidFill>
        </p:spPr>
      </p:sp>
      <p:sp>
        <p:nvSpPr>
          <p:cNvPr id="20" name="Text 18"/>
          <p:cNvSpPr/>
          <p:nvPr/>
        </p:nvSpPr>
        <p:spPr>
          <a:xfrm>
            <a:off x="1051560" y="3886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526280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139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Status Tracking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051560" y="4864608"/>
            <a:ext cx="3063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GB" alt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shows live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applied, verified, approved, credited.</a:t>
            </a:r>
            <a:endParaRPr lang="en-US" sz="11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0" y="3657600"/>
            <a:ext cx="3520440" cy="1965960"/>
          </a:xfrm>
          <a:prstGeom prst="rect">
            <a:avLst/>
          </a:prstGeom>
          <a:solidFill>
            <a:srgbClr val="EDF0EA"/>
          </a:solidFill>
        </p:spPr>
      </p:sp>
      <p:sp>
        <p:nvSpPr>
          <p:cNvPr id="24" name="Shape 22"/>
          <p:cNvSpPr/>
          <p:nvPr/>
        </p:nvSpPr>
        <p:spPr>
          <a:xfrm>
            <a:off x="4800600" y="3886200"/>
            <a:ext cx="502920" cy="502920"/>
          </a:xfrm>
          <a:prstGeom prst="ellipse">
            <a:avLst/>
          </a:prstGeom>
          <a:solidFill>
            <a:srgbClr val="DCE5D8"/>
          </a:solidFill>
        </p:spPr>
      </p:sp>
      <p:sp>
        <p:nvSpPr>
          <p:cNvPr id="25" name="Text 23"/>
          <p:cNvSpPr/>
          <p:nvPr/>
        </p:nvSpPr>
        <p:spPr>
          <a:xfrm>
            <a:off x="4800600" y="3886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00600" y="4526280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139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&amp; Compliance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800600" y="4864608"/>
            <a:ext cx="3063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Tamper</a:t>
            </a:r>
            <a:r>
              <a:rPr lang="en-GB" alt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alt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Evident Audit Logs – Maintains traceable records of every important action</a:t>
            </a:r>
            <a:endParaRPr lang="en-US" altLang="en-US" sz="11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321040" y="3657600"/>
            <a:ext cx="3520440" cy="1965960"/>
          </a:xfrm>
          <a:prstGeom prst="rect">
            <a:avLst/>
          </a:prstGeom>
          <a:solidFill>
            <a:srgbClr val="EDF0EA"/>
          </a:solidFill>
        </p:spPr>
      </p:sp>
      <p:sp>
        <p:nvSpPr>
          <p:cNvPr id="29" name="Shape 27"/>
          <p:cNvSpPr/>
          <p:nvPr/>
        </p:nvSpPr>
        <p:spPr>
          <a:xfrm>
            <a:off x="8549640" y="3886200"/>
            <a:ext cx="502920" cy="502920"/>
          </a:xfrm>
          <a:prstGeom prst="ellipse">
            <a:avLst/>
          </a:prstGeom>
          <a:solidFill>
            <a:srgbClr val="DCE5D8"/>
          </a:solidFill>
        </p:spPr>
      </p:sp>
      <p:sp>
        <p:nvSpPr>
          <p:cNvPr id="30" name="Text 28"/>
          <p:cNvSpPr/>
          <p:nvPr/>
        </p:nvSpPr>
        <p:spPr>
          <a:xfrm>
            <a:off x="8549640" y="3886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49640" y="4526280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139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Grievance Redressal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549640" y="4864608"/>
            <a:ext cx="3063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can raise issues, and unresolved applications are </a:t>
            </a:r>
            <a:r>
              <a:rPr lang="en-GB" alt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</a:t>
            </a:r>
            <a:r>
              <a:rPr lang="en-US" alt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to officers for quick action.</a:t>
            </a:r>
            <a:endParaRPr lang="en-US" altLang="en-US" sz="11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4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Expected Benefits &amp; Impact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2514600" cy="2103120"/>
          </a:xfrm>
          <a:prstGeom prst="rect">
            <a:avLst/>
          </a:prstGeom>
          <a:solidFill>
            <a:srgbClr val="34412F"/>
          </a:solidFill>
        </p:spPr>
      </p:sp>
      <p:sp>
        <p:nvSpPr>
          <p:cNvPr id="4" name="Text 2"/>
          <p:cNvSpPr/>
          <p:nvPr/>
        </p:nvSpPr>
        <p:spPr>
          <a:xfrm>
            <a:off x="1005840" y="2148840"/>
            <a:ext cx="2148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FA9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60%+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05840" y="2971800"/>
            <a:ext cx="21488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4C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Reduction in average disbursement time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566160" y="1828800"/>
            <a:ext cx="2514600" cy="2103120"/>
          </a:xfrm>
          <a:prstGeom prst="rect">
            <a:avLst/>
          </a:prstGeom>
          <a:solidFill>
            <a:srgbClr val="34412F"/>
          </a:solidFill>
        </p:spPr>
      </p:sp>
      <p:sp>
        <p:nvSpPr>
          <p:cNvPr id="7" name="Text 5"/>
          <p:cNvSpPr/>
          <p:nvPr/>
        </p:nvSpPr>
        <p:spPr>
          <a:xfrm>
            <a:off x="3749040" y="2148840"/>
            <a:ext cx="2148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FA9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Zero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749040" y="2971800"/>
            <a:ext cx="21488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4C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Duplicate beneficiary claims via de-duplication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2514600" cy="2103120"/>
          </a:xfrm>
          <a:prstGeom prst="rect">
            <a:avLst/>
          </a:prstGeom>
          <a:solidFill>
            <a:srgbClr val="34412F"/>
          </a:solidFill>
        </p:spPr>
      </p:sp>
      <p:sp>
        <p:nvSpPr>
          <p:cNvPr id="10" name="Text 8"/>
          <p:cNvSpPr/>
          <p:nvPr/>
        </p:nvSpPr>
        <p:spPr>
          <a:xfrm>
            <a:off x="6492240" y="2148840"/>
            <a:ext cx="2148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FA9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92240" y="2971800"/>
            <a:ext cx="21488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4C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Fund-flow traceability for audits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052560" y="1828800"/>
            <a:ext cx="2514600" cy="2103120"/>
          </a:xfrm>
          <a:prstGeom prst="rect">
            <a:avLst/>
          </a:prstGeom>
          <a:solidFill>
            <a:srgbClr val="34412F"/>
          </a:solidFill>
        </p:spPr>
      </p:sp>
      <p:sp>
        <p:nvSpPr>
          <p:cNvPr id="13" name="Text 11"/>
          <p:cNvSpPr/>
          <p:nvPr/>
        </p:nvSpPr>
        <p:spPr>
          <a:xfrm>
            <a:off x="9235440" y="2148840"/>
            <a:ext cx="2148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FA9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24x7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235440" y="2971800"/>
            <a:ext cx="21488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4C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Self-service application status access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429768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4C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Beyond efficiency, the platform builds public trust through transparency and equitable access to welfare benefits.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4C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  <p:sp>
        <p:nvSpPr>
          <p:cNvPr id="17" name="Text Box 16"/>
          <p:cNvSpPr txBox="1"/>
          <p:nvPr/>
        </p:nvSpPr>
        <p:spPr>
          <a:xfrm>
            <a:off x="899795" y="1824355"/>
            <a:ext cx="2437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bg2"/>
                </a:solidFill>
              </a:rPr>
              <a:t>Faster Processing</a:t>
            </a:r>
            <a:endParaRPr lang="en-US" altLang="en-US">
              <a:solidFill>
                <a:schemeClr val="bg2"/>
              </a:solidFill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3642995" y="1827530"/>
            <a:ext cx="2437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bg2"/>
                </a:solidFill>
              </a:rPr>
              <a:t>Better Accuracy</a:t>
            </a:r>
            <a:endParaRPr lang="en-US" altLang="en-US">
              <a:solidFill>
                <a:schemeClr val="bg2"/>
              </a:solidFill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6348095" y="1827530"/>
            <a:ext cx="2437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bg2"/>
                </a:solidFill>
              </a:rPr>
              <a:t>Full Traceability</a:t>
            </a:r>
            <a:endParaRPr lang="en-US" altLang="en-US">
              <a:solidFill>
                <a:schemeClr val="bg2"/>
              </a:solidFill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9129395" y="1828800"/>
            <a:ext cx="2437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bg2"/>
                </a:solidFill>
              </a:rPr>
              <a:t>Easy Tracking</a:t>
            </a:r>
            <a:endParaRPr lang="en-US" altLang="en-US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1392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6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Roadmap for scaling and enhancement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1024128"/>
          </a:xfrm>
          <a:prstGeom prst="rect">
            <a:avLst/>
          </a:prstGeom>
          <a:solidFill>
            <a:srgbClr val="EDF0EA"/>
          </a:solidFill>
        </p:spPr>
      </p:sp>
      <p:sp>
        <p:nvSpPr>
          <p:cNvPr id="5" name="Shape 3"/>
          <p:cNvSpPr/>
          <p:nvPr/>
        </p:nvSpPr>
        <p:spPr>
          <a:xfrm>
            <a:off x="1051560" y="1929384"/>
            <a:ext cx="548640" cy="548640"/>
          </a:xfrm>
          <a:prstGeom prst="ellipse">
            <a:avLst/>
          </a:prstGeom>
          <a:solidFill>
            <a:srgbClr val="5C7A5C"/>
          </a:solidFill>
        </p:spPr>
      </p:sp>
      <p:sp>
        <p:nvSpPr>
          <p:cNvPr id="6" name="Text 4"/>
          <p:cNvSpPr/>
          <p:nvPr/>
        </p:nvSpPr>
        <p:spPr>
          <a:xfrm>
            <a:off x="1051560" y="192938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F4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74520" y="1819656"/>
            <a:ext cx="4206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500" b="1" dirty="0"/>
              <a:t>Mobile Application</a:t>
            </a:r>
            <a:endParaRPr lang="en-US" altLang="en-US" sz="1500" b="1" dirty="0"/>
          </a:p>
        </p:txBody>
      </p:sp>
      <p:sp>
        <p:nvSpPr>
          <p:cNvPr id="8" name="Text 6"/>
          <p:cNvSpPr/>
          <p:nvPr/>
        </p:nvSpPr>
        <p:spPr>
          <a:xfrm>
            <a:off x="6172200" y="1819656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 a dedicated mobile app for beneficiaries to access schemes and track applications.</a:t>
            </a:r>
            <a:endParaRPr lang="en-US" altLang="en-US" sz="125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10515600" cy="1024128"/>
          </a:xfrm>
          <a:prstGeom prst="rect">
            <a:avLst/>
          </a:prstGeom>
          <a:solidFill>
            <a:srgbClr val="EDF0EA"/>
          </a:solidFill>
        </p:spPr>
      </p:sp>
      <p:sp>
        <p:nvSpPr>
          <p:cNvPr id="10" name="Shape 8"/>
          <p:cNvSpPr/>
          <p:nvPr/>
        </p:nvSpPr>
        <p:spPr>
          <a:xfrm>
            <a:off x="1051560" y="3118104"/>
            <a:ext cx="548640" cy="548640"/>
          </a:xfrm>
          <a:prstGeom prst="ellipse">
            <a:avLst/>
          </a:prstGeom>
          <a:solidFill>
            <a:srgbClr val="5C7A5C"/>
          </a:solidFill>
        </p:spPr>
      </p:sp>
      <p:sp>
        <p:nvSpPr>
          <p:cNvPr id="11" name="Text 9"/>
          <p:cNvSpPr/>
          <p:nvPr/>
        </p:nvSpPr>
        <p:spPr>
          <a:xfrm>
            <a:off x="1051560" y="311810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F4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74520" y="3008376"/>
            <a:ext cx="4206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139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Multilingual Voice Access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72200" y="3008376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Regional-language voice assistant for low-literacy and rural users.</a:t>
            </a:r>
            <a:endParaRPr lang="en-US" sz="125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4069080"/>
            <a:ext cx="10515600" cy="1024128"/>
          </a:xfrm>
          <a:prstGeom prst="rect">
            <a:avLst/>
          </a:prstGeom>
          <a:solidFill>
            <a:srgbClr val="EDF0EA"/>
          </a:solidFill>
        </p:spPr>
      </p:sp>
      <p:sp>
        <p:nvSpPr>
          <p:cNvPr id="15" name="Shape 13"/>
          <p:cNvSpPr/>
          <p:nvPr/>
        </p:nvSpPr>
        <p:spPr>
          <a:xfrm>
            <a:off x="1051560" y="4306824"/>
            <a:ext cx="548640" cy="548640"/>
          </a:xfrm>
          <a:prstGeom prst="ellipse">
            <a:avLst/>
          </a:prstGeom>
          <a:solidFill>
            <a:srgbClr val="5C7A5C"/>
          </a:solidFill>
        </p:spPr>
      </p:sp>
      <p:sp>
        <p:nvSpPr>
          <p:cNvPr id="16" name="Text 14"/>
          <p:cNvSpPr/>
          <p:nvPr/>
        </p:nvSpPr>
        <p:spPr>
          <a:xfrm>
            <a:off x="1051560" y="430682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F4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74520" y="4197096"/>
            <a:ext cx="4206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500" b="1" dirty="0"/>
              <a:t>AI &amp; Intelligent Analytics</a:t>
            </a:r>
            <a:endParaRPr lang="en-US" altLang="en-US" sz="1500" b="1" dirty="0"/>
          </a:p>
        </p:txBody>
      </p:sp>
      <p:sp>
        <p:nvSpPr>
          <p:cNvPr id="18" name="Text 16"/>
          <p:cNvSpPr/>
          <p:nvPr/>
        </p:nvSpPr>
        <p:spPr>
          <a:xfrm>
            <a:off x="6172200" y="4197096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250" dirty="0"/>
              <a:t>Introduce AI-based fraud detection and predictive beneficiary eligibility analysis.</a:t>
            </a:r>
            <a:endParaRPr lang="en-US" alt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257800"/>
            <a:ext cx="10515600" cy="1024128"/>
          </a:xfrm>
          <a:prstGeom prst="rect">
            <a:avLst/>
          </a:prstGeom>
          <a:solidFill>
            <a:srgbClr val="EDF0EA"/>
          </a:solidFill>
        </p:spPr>
      </p:sp>
      <p:sp>
        <p:nvSpPr>
          <p:cNvPr id="20" name="Shape 18"/>
          <p:cNvSpPr/>
          <p:nvPr/>
        </p:nvSpPr>
        <p:spPr>
          <a:xfrm>
            <a:off x="1051560" y="5495544"/>
            <a:ext cx="548640" cy="548640"/>
          </a:xfrm>
          <a:prstGeom prst="ellipse">
            <a:avLst/>
          </a:prstGeom>
          <a:solidFill>
            <a:srgbClr val="5C7A5C"/>
          </a:solidFill>
        </p:spPr>
      </p:sp>
      <p:sp>
        <p:nvSpPr>
          <p:cNvPr id="21" name="Text 19"/>
          <p:cNvSpPr/>
          <p:nvPr/>
        </p:nvSpPr>
        <p:spPr>
          <a:xfrm>
            <a:off x="1051560" y="549554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F4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874520" y="5385816"/>
            <a:ext cx="4206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500" b="1" dirty="0"/>
              <a:t>Real-Time Notifications</a:t>
            </a:r>
            <a:endParaRPr lang="en-US" altLang="en-US" sz="1500" b="1" dirty="0"/>
          </a:p>
        </p:txBody>
      </p:sp>
      <p:sp>
        <p:nvSpPr>
          <p:cNvPr id="23" name="Text 21"/>
          <p:cNvSpPr/>
          <p:nvPr/>
        </p:nvSpPr>
        <p:spPr>
          <a:xfrm>
            <a:off x="6172200" y="5385816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2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SMS, email, and in-app alerts for application updates, approvals, and fund releases.</a:t>
            </a:r>
            <a:endParaRPr lang="en-US" altLang="en-US" sz="125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90551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F4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375" y="1934210"/>
            <a:ext cx="10577195" cy="3505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just">
              <a:spcAft>
                <a:spcPts val="1000"/>
              </a:spcAft>
              <a:defRPr sz="1650">
                <a:solidFill>
                  <a:srgbClr val="E0E7EF"/>
                </a:solidFill>
                <a:latin typeface="Aptos"/>
              </a:defRPr>
            </a:pPr>
            <a:r>
              <a:rPr sz="1800">
                <a:sym typeface="+mn-ea"/>
              </a:rPr>
              <a:t>•  Developed a centralized and controlled subsidy administration platform</a:t>
            </a:r>
            <a:endParaRPr sz="1800">
              <a:sym typeface="+mn-ea"/>
            </a:endParaRPr>
          </a:p>
          <a:p>
            <a:pPr algn="just">
              <a:spcAft>
                <a:spcPts val="1000"/>
              </a:spcAft>
              <a:defRPr sz="1650">
                <a:solidFill>
                  <a:srgbClr val="E0E7EF"/>
                </a:solidFill>
                <a:latin typeface="Aptos"/>
              </a:defRPr>
            </a:pPr>
            <a:r>
              <a:rPr sz="1800">
                <a:sym typeface="+mn-ea"/>
              </a:rPr>
              <a:t>•  Digitizes the complete application-to-disbursement lifecycle</a:t>
            </a:r>
            <a:endParaRPr sz="1800">
              <a:sym typeface="+mn-ea"/>
            </a:endParaRPr>
          </a:p>
          <a:p>
            <a:pPr algn="just">
              <a:spcAft>
                <a:spcPts val="1000"/>
              </a:spcAft>
              <a:defRPr sz="1650">
                <a:solidFill>
                  <a:srgbClr val="E0E7EF"/>
                </a:solidFill>
                <a:latin typeface="Aptos"/>
              </a:defRPr>
            </a:pPr>
            <a:r>
              <a:rPr sz="1800">
                <a:sym typeface="+mn-ea"/>
              </a:rPr>
              <a:t>•  Provides consistent application status progression at every stage</a:t>
            </a:r>
            <a:endParaRPr sz="1800">
              <a:sym typeface="+mn-ea"/>
            </a:endParaRPr>
          </a:p>
          <a:p>
            <a:pPr algn="just">
              <a:spcAft>
                <a:spcPts val="1000"/>
              </a:spcAft>
              <a:defRPr sz="1650">
                <a:solidFill>
                  <a:srgbClr val="E0E7EF"/>
                </a:solidFill>
                <a:latin typeface="Aptos"/>
              </a:defRPr>
            </a:pPr>
            <a:r>
              <a:rPr sz="1800">
                <a:sym typeface="+mn-ea"/>
              </a:rPr>
              <a:t>•  Enables secure, role-based administration across stakeholders</a:t>
            </a:r>
            <a:endParaRPr sz="1800">
              <a:sym typeface="+mn-ea"/>
            </a:endParaRPr>
          </a:p>
          <a:p>
            <a:pPr algn="just">
              <a:spcAft>
                <a:spcPts val="1000"/>
              </a:spcAft>
              <a:defRPr sz="1650">
                <a:solidFill>
                  <a:srgbClr val="E0E7EF"/>
                </a:solidFill>
                <a:latin typeface="Aptos"/>
              </a:defRPr>
            </a:pPr>
            <a:r>
              <a:rPr sz="1800">
                <a:sym typeface="+mn-ea"/>
              </a:rPr>
              <a:t>•  Supports structured eligibility, verification, approval and disbursement</a:t>
            </a:r>
            <a:endParaRPr sz="1800">
              <a:sym typeface="+mn-ea"/>
            </a:endParaRPr>
          </a:p>
          <a:p>
            <a:pPr algn="just">
              <a:spcAft>
                <a:spcPts val="1000"/>
              </a:spcAft>
              <a:defRPr sz="1650">
                <a:solidFill>
                  <a:srgbClr val="E0E7EF"/>
                </a:solidFill>
                <a:latin typeface="Aptos"/>
              </a:defRPr>
            </a:pPr>
            <a:r>
              <a:rPr sz="1800">
                <a:sym typeface="+mn-ea"/>
              </a:rPr>
              <a:t>• </a:t>
            </a:r>
            <a:r>
              <a:rPr lang="en-GB" sz="1800">
                <a:sym typeface="+mn-ea"/>
              </a:rPr>
              <a:t> </a:t>
            </a:r>
            <a:r>
              <a:rPr sz="1800">
                <a:sym typeface="+mn-ea"/>
              </a:rPr>
              <a:t>Provides a strong foundation for future government payment and digital document</a:t>
            </a:r>
            <a:r>
              <a:rPr lang="en-GB" sz="1800">
                <a:sym typeface="+mn-ea"/>
              </a:rPr>
              <a:t> </a:t>
            </a:r>
            <a:r>
              <a:rPr sz="1800">
                <a:sym typeface="+mn-ea"/>
              </a:rPr>
              <a:t>integration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4C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051560" y="1645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4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3595" y="988695"/>
            <a:ext cx="10652125" cy="4881245"/>
          </a:xfrm>
          <a:prstGeom prst="rect">
            <a:avLst/>
          </a:prstGeom>
          <a:solidFill>
            <a:srgbClr val="EDF0EA"/>
          </a:solidFill>
        </p:spPr>
      </p:sp>
      <p:sp>
        <p:nvSpPr>
          <p:cNvPr id="25" name="Text 23"/>
          <p:cNvSpPr/>
          <p:nvPr/>
        </p:nvSpPr>
        <p:spPr>
          <a:xfrm>
            <a:off x="4800600" y="3886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4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Box 3"/>
          <p:cNvSpPr txBox="1"/>
          <p:nvPr/>
        </p:nvSpPr>
        <p:spPr>
          <a:xfrm>
            <a:off x="3712845" y="2515235"/>
            <a:ext cx="4415790" cy="1091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6500" b="1">
                <a:solidFill>
                  <a:schemeClr val="accent6">
                    <a:lumMod val="50000"/>
                  </a:schemeClr>
                </a:solidFill>
              </a:rPr>
              <a:t>THANK YOU</a:t>
            </a:r>
            <a:endParaRPr lang="en-GB" altLang="en-US" sz="6500" b="1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120140" y="416052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chemeClr val="tx1"/>
                </a:solidFill>
                <a:latin typeface="Aptos"/>
              </a:rPr>
              <a:t>Digital Subsidy &amp; Grant Administration Platform</a:t>
            </a:r>
            <a:endParaRPr sz="2200" b="1">
              <a:solidFill>
                <a:schemeClr val="tx1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4585</Words>
  <Application>WPS Presentation</Application>
  <PresentationFormat>On-screen Show (16:9)</PresentationFormat>
  <Paragraphs>238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Aptos</vt:lpstr>
      <vt:lpstr>Segoe UI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adhi vicky</cp:lastModifiedBy>
  <cp:revision>10</cp:revision>
  <dcterms:created xsi:type="dcterms:W3CDTF">2026-09-16T12:44:00Z</dcterms:created>
  <dcterms:modified xsi:type="dcterms:W3CDTF">2026-09-18T13:58:05Z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D708F094CAB349BFAC0017D0055259AC_12</vt:lpwstr>
  </property>
</Properties>
</file>